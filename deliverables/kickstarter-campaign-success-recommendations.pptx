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3A6C0C-6595-4BD3-80B3-A19DD009D93E}" v="1" dt="2025-09-09T14:15:59.9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br>
              <a:rPr lang="en-US"/>
            </a:br>
            <a:r>
              <a:rPr lang="en-US"/>
              <a:t>Do number of Funding Levels affect number of Backers?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'4_Analysis_and_Charts'!$B$123</c:f>
              <c:strCache>
                <c:ptCount val="1"/>
                <c:pt idx="0">
                  <c:v>Average of backers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'4_Analysis_and_Charts'!$A$124:$A$149</c:f>
              <c:numCache>
                <c:formatCode>General</c:formatCode>
                <c:ptCount val="2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</c:numCache>
            </c:numRef>
          </c:xVal>
          <c:yVal>
            <c:numRef>
              <c:f>'4_Analysis_and_Charts'!$B$124:$B$149</c:f>
              <c:numCache>
                <c:formatCode>General</c:formatCode>
                <c:ptCount val="26"/>
                <c:pt idx="0">
                  <c:v>12.23728813559322</c:v>
                </c:pt>
                <c:pt idx="1">
                  <c:v>13.513248282630029</c:v>
                </c:pt>
                <c:pt idx="2">
                  <c:v>19.340723453908986</c:v>
                </c:pt>
                <c:pt idx="3">
                  <c:v>26.929070392262226</c:v>
                </c:pt>
                <c:pt idx="4">
                  <c:v>30.177963272120202</c:v>
                </c:pt>
                <c:pt idx="5">
                  <c:v>35.935404339250496</c:v>
                </c:pt>
                <c:pt idx="6">
                  <c:v>44.186420488385941</c:v>
                </c:pt>
                <c:pt idx="7">
                  <c:v>49.048871479201644</c:v>
                </c:pt>
                <c:pt idx="8">
                  <c:v>55.657725947521868</c:v>
                </c:pt>
                <c:pt idx="9">
                  <c:v>90.679471788715489</c:v>
                </c:pt>
                <c:pt idx="10">
                  <c:v>77.331178824253612</c:v>
                </c:pt>
                <c:pt idx="11">
                  <c:v>122.63910761154855</c:v>
                </c:pt>
                <c:pt idx="12">
                  <c:v>102.81210191082802</c:v>
                </c:pt>
                <c:pt idx="13">
                  <c:v>118.0301094890511</c:v>
                </c:pt>
                <c:pt idx="14">
                  <c:v>166.78097622027533</c:v>
                </c:pt>
                <c:pt idx="15">
                  <c:v>256.22796934865903</c:v>
                </c:pt>
                <c:pt idx="16">
                  <c:v>153.88625592417063</c:v>
                </c:pt>
                <c:pt idx="17">
                  <c:v>224.01773049645391</c:v>
                </c:pt>
                <c:pt idx="18">
                  <c:v>128.96153846153845</c:v>
                </c:pt>
                <c:pt idx="19">
                  <c:v>266.44</c:v>
                </c:pt>
                <c:pt idx="20">
                  <c:v>140.19090909090909</c:v>
                </c:pt>
                <c:pt idx="21">
                  <c:v>496.2340425531915</c:v>
                </c:pt>
                <c:pt idx="22">
                  <c:v>180.40277777777777</c:v>
                </c:pt>
                <c:pt idx="23">
                  <c:v>188.20779220779221</c:v>
                </c:pt>
                <c:pt idx="24">
                  <c:v>677.23404255319144</c:v>
                </c:pt>
                <c:pt idx="25">
                  <c:v>291.66666666666669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72B-4888-B1A6-123880000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05797408"/>
        <c:axId val="1405797888"/>
      </c:scatterChart>
      <c:valAx>
        <c:axId val="1405797408"/>
        <c:scaling>
          <c:orientation val="minMax"/>
          <c:max val="2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Funding Levels</a:t>
                </a:r>
              </a:p>
              <a:p>
                <a:pPr>
                  <a:defRPr/>
                </a:pP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5797888"/>
        <c:crosses val="autoZero"/>
        <c:crossBetween val="midCat"/>
      </c:valAx>
      <c:valAx>
        <c:axId val="1405797888"/>
        <c:scaling>
          <c:orientation val="minMax"/>
          <c:max val="7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Average Backers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57974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Categories Fail/Success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030421260459831"/>
          <c:y val="0.11340994924428106"/>
          <c:w val="0.88969578739540167"/>
          <c:h val="0.794776678566640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'4_Analysis_and_Charts'!$B$7</c:f>
              <c:strCache>
                <c:ptCount val="1"/>
                <c:pt idx="0">
                  <c:v>% Success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'4_Analysis_and_Charts'!$A$8:$A$20</c:f>
              <c:strCache>
                <c:ptCount val="13"/>
                <c:pt idx="0">
                  <c:v>Fashion</c:v>
                </c:pt>
                <c:pt idx="1">
                  <c:v>Technology</c:v>
                </c:pt>
                <c:pt idx="2">
                  <c:v>Publishing</c:v>
                </c:pt>
                <c:pt idx="3">
                  <c:v>Games</c:v>
                </c:pt>
                <c:pt idx="4">
                  <c:v>Design</c:v>
                </c:pt>
                <c:pt idx="5">
                  <c:v>Photography</c:v>
                </c:pt>
                <c:pt idx="6">
                  <c:v>Food</c:v>
                </c:pt>
                <c:pt idx="7">
                  <c:v>Film &amp; Video</c:v>
                </c:pt>
                <c:pt idx="8">
                  <c:v>Comics</c:v>
                </c:pt>
                <c:pt idx="9">
                  <c:v>Art</c:v>
                </c:pt>
                <c:pt idx="10">
                  <c:v>Music</c:v>
                </c:pt>
                <c:pt idx="11">
                  <c:v>Theater</c:v>
                </c:pt>
                <c:pt idx="12">
                  <c:v>Dance</c:v>
                </c:pt>
              </c:strCache>
            </c:strRef>
          </c:cat>
          <c:val>
            <c:numRef>
              <c:f>'4_Analysis_and_Charts'!$B$8:$B$20</c:f>
              <c:numCache>
                <c:formatCode>0.00%</c:formatCode>
                <c:ptCount val="13"/>
                <c:pt idx="0">
                  <c:v>0.32907662082514733</c:v>
                </c:pt>
                <c:pt idx="1">
                  <c:v>0.39344262295081966</c:v>
                </c:pt>
                <c:pt idx="2">
                  <c:v>0.40216867469879519</c:v>
                </c:pt>
                <c:pt idx="3">
                  <c:v>0.43219178082191778</c:v>
                </c:pt>
                <c:pt idx="4">
                  <c:v>0.46508648302370276</c:v>
                </c:pt>
                <c:pt idx="5">
                  <c:v>0.46594202898550724</c:v>
                </c:pt>
                <c:pt idx="6">
                  <c:v>0.5050348567002324</c:v>
                </c:pt>
                <c:pt idx="7">
                  <c:v>0.50996015936254979</c:v>
                </c:pt>
                <c:pt idx="8">
                  <c:v>0.53886010362694303</c:v>
                </c:pt>
                <c:pt idx="9">
                  <c:v>0.57057546145494031</c:v>
                </c:pt>
                <c:pt idx="10">
                  <c:v>0.6754062406539727</c:v>
                </c:pt>
                <c:pt idx="11">
                  <c:v>0.70669546436285102</c:v>
                </c:pt>
                <c:pt idx="12">
                  <c:v>0.74573863636363635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AD-4510-8E7C-DBD55E27B1B3}"/>
            </c:ext>
          </c:extLst>
        </c:ser>
        <c:ser>
          <c:idx val="1"/>
          <c:order val="1"/>
          <c:tx>
            <c:strRef>
              <c:f>'4_Analysis_and_Charts'!$C$7</c:f>
              <c:strCache>
                <c:ptCount val="1"/>
                <c:pt idx="0">
                  <c:v>% Failed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'4_Analysis_and_Charts'!$A$8:$A$20</c:f>
              <c:strCache>
                <c:ptCount val="13"/>
                <c:pt idx="0">
                  <c:v>Fashion</c:v>
                </c:pt>
                <c:pt idx="1">
                  <c:v>Technology</c:v>
                </c:pt>
                <c:pt idx="2">
                  <c:v>Publishing</c:v>
                </c:pt>
                <c:pt idx="3">
                  <c:v>Games</c:v>
                </c:pt>
                <c:pt idx="4">
                  <c:v>Design</c:v>
                </c:pt>
                <c:pt idx="5">
                  <c:v>Photography</c:v>
                </c:pt>
                <c:pt idx="6">
                  <c:v>Food</c:v>
                </c:pt>
                <c:pt idx="7">
                  <c:v>Film &amp; Video</c:v>
                </c:pt>
                <c:pt idx="8">
                  <c:v>Comics</c:v>
                </c:pt>
                <c:pt idx="9">
                  <c:v>Art</c:v>
                </c:pt>
                <c:pt idx="10">
                  <c:v>Music</c:v>
                </c:pt>
                <c:pt idx="11">
                  <c:v>Theater</c:v>
                </c:pt>
                <c:pt idx="12">
                  <c:v>Dance</c:v>
                </c:pt>
              </c:strCache>
            </c:strRef>
          </c:cat>
          <c:val>
            <c:numRef>
              <c:f>'4_Analysis_and_Charts'!$C$8:$C$20</c:f>
              <c:numCache>
                <c:formatCode>0.00%</c:formatCode>
                <c:ptCount val="13"/>
                <c:pt idx="0">
                  <c:v>0.67092337917485267</c:v>
                </c:pt>
                <c:pt idx="1">
                  <c:v>0.60655737704918034</c:v>
                </c:pt>
                <c:pt idx="2">
                  <c:v>0.59783132530120486</c:v>
                </c:pt>
                <c:pt idx="3">
                  <c:v>0.56780821917808222</c:v>
                </c:pt>
                <c:pt idx="4">
                  <c:v>0.5349135169762973</c:v>
                </c:pt>
                <c:pt idx="5">
                  <c:v>0.53405797101449271</c:v>
                </c:pt>
                <c:pt idx="6">
                  <c:v>0.4949651432997676</c:v>
                </c:pt>
                <c:pt idx="7">
                  <c:v>0.49003984063745021</c:v>
                </c:pt>
                <c:pt idx="8">
                  <c:v>0.46113989637305697</c:v>
                </c:pt>
                <c:pt idx="9">
                  <c:v>0.42942453854505974</c:v>
                </c:pt>
                <c:pt idx="10">
                  <c:v>0.3245937593460273</c:v>
                </c:pt>
                <c:pt idx="11">
                  <c:v>0.29330453563714903</c:v>
                </c:pt>
                <c:pt idx="12">
                  <c:v>0.25426136363636365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AD-4510-8E7C-DBD55E27B1B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413306432"/>
        <c:axId val="1413306912"/>
      </c:barChart>
      <c:catAx>
        <c:axId val="1413306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3306912"/>
        <c:crosses val="autoZero"/>
        <c:auto val="1"/>
        <c:lblAlgn val="ctr"/>
        <c:lblOffset val="100"/>
        <c:noMultiLvlLbl val="0"/>
      </c:catAx>
      <c:valAx>
        <c:axId val="1413306912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1413306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54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3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3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6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9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7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153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50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94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1/16/26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4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33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19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99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61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3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1/16/26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27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1/16/26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634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37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1/16/26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50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97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1/16/26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76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6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1/16/26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471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1/16/26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328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1/16/26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99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125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1/16/26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746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1/16/26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542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1/16/26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051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572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404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751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291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328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36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9774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5959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02936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114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19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614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139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63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391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736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897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274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21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68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3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78AC-F892-B325-8FA2-00B4550EB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n-US" dirty="0"/>
              <a:t>Kickstarter campaign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59561-8C4A-A50F-11AB-3D4FF5D8A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GB" dirty="0"/>
              <a:t>Data Analysis &amp; Business Recommendations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0728AF3-99ED-0BFD-0C83-FE775B05EE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499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36CBAB6-E936-2EDD-51F7-2267942B6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>
            <a:normAutofit/>
          </a:bodyPr>
          <a:lstStyle/>
          <a:p>
            <a:r>
              <a:rPr lang="en-GB" sz="2800" dirty="0"/>
              <a:t>The Challenge: Improving Campaign Success Rates</a:t>
            </a:r>
            <a:endParaRPr lang="en-US" sz="2800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F296C7B7-8096-2AAF-255F-3D92EBB53D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8351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E2AF6-4335-3271-73DF-DDA411817B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554480"/>
            <a:ext cx="6858000" cy="4983480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GB" sz="1600" b="1" dirty="0"/>
              <a:t>A large percentage of projects fail to reach their funding goals.</a:t>
            </a:r>
            <a:r>
              <a:rPr lang="en-GB" sz="1600" dirty="0"/>
              <a:t> Project creators don’t always know what target goals are realistic, which categories perform better, or how to structure funding to maximize backer engagement.</a:t>
            </a:r>
          </a:p>
          <a:p>
            <a:pPr algn="just">
              <a:lnSpc>
                <a:spcPct val="110000"/>
              </a:lnSpc>
            </a:pPr>
            <a:r>
              <a:rPr lang="en-GB" sz="1600" dirty="0"/>
              <a:t>Kickstarter wants to introduce a </a:t>
            </a:r>
            <a:r>
              <a:rPr lang="en-GB" sz="1600" b="1" dirty="0"/>
              <a:t>consulting service</a:t>
            </a:r>
            <a:r>
              <a:rPr lang="en-GB" sz="1600" dirty="0"/>
              <a:t> to improve campaign success rates, but first it needs data-driven insights to answer questions like:</a:t>
            </a:r>
          </a:p>
          <a:p>
            <a:pPr marL="571500" lvl="1" indent="-342900" algn="just">
              <a:lnSpc>
                <a:spcPct val="110000"/>
              </a:lnSpc>
              <a:buFont typeface="+mj-lt"/>
              <a:buAutoNum type="arabicPeriod"/>
            </a:pPr>
            <a:r>
              <a:rPr lang="en-GB" sz="1400" dirty="0"/>
              <a:t>Which categories have the highest vs. lowest success rates?</a:t>
            </a:r>
          </a:p>
          <a:p>
            <a:pPr marL="571500" lvl="1" indent="-342900" algn="just">
              <a:lnSpc>
                <a:spcPct val="110000"/>
              </a:lnSpc>
              <a:buFont typeface="+mj-lt"/>
              <a:buAutoNum type="arabicPeriod"/>
            </a:pPr>
            <a:r>
              <a:rPr lang="en-GB" sz="1400" dirty="0"/>
              <a:t>How does funding structure influence campaign outcomes?</a:t>
            </a:r>
          </a:p>
          <a:p>
            <a:pPr marL="571500" lvl="1" indent="-342900" algn="just">
              <a:lnSpc>
                <a:spcPct val="110000"/>
              </a:lnSpc>
              <a:buFont typeface="+mj-lt"/>
              <a:buAutoNum type="arabicPeriod"/>
            </a:pPr>
            <a:r>
              <a:rPr lang="en-GB" sz="1400" dirty="0"/>
              <a:t>What patterns in rewards, updates, and campaign length are linked to success?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GB" sz="1600" dirty="0"/>
              <a:t>By identifying these patterns, Kickstarter can offer </a:t>
            </a:r>
            <a:r>
              <a:rPr lang="en-GB" sz="1600" b="1" dirty="0"/>
              <a:t>practical, evidence-based recommendations</a:t>
            </a:r>
            <a:r>
              <a:rPr lang="en-GB" sz="1600" dirty="0"/>
              <a:t> to project founders, improving both customer satisfaction and overall platform reputation.</a:t>
            </a:r>
          </a:p>
          <a:p>
            <a:pPr>
              <a:lnSpc>
                <a:spcPct val="110000"/>
              </a:lnSpc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062331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678B-BB24-017E-06B7-DD4AA6E16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77" y="315518"/>
            <a:ext cx="5145003" cy="1174068"/>
          </a:xfrm>
        </p:spPr>
        <p:txBody>
          <a:bodyPr/>
          <a:lstStyle/>
          <a:p>
            <a:r>
              <a:rPr lang="en-GB" dirty="0"/>
              <a:t>Success Rates Rise with More Funding Levels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A22DE-70BC-BF9C-EE1F-CE24CBEDB5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3577" y="1650511"/>
            <a:ext cx="4684579" cy="322989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As might be expected, the lower one's goal is and the more backers one has increases one's % chance of success. </a:t>
            </a:r>
          </a:p>
          <a:p>
            <a:pPr algn="just"/>
            <a:r>
              <a:rPr lang="en-GB" dirty="0"/>
              <a:t>Deciding a financial goal is obviously personal, but how can one increase their number of backers? </a:t>
            </a:r>
          </a:p>
          <a:p>
            <a:pPr marL="0" indent="0" algn="just">
              <a:buNone/>
            </a:pPr>
            <a:r>
              <a:rPr lang="en-GB" dirty="0">
                <a:solidFill>
                  <a:srgbClr val="FF0000"/>
                </a:solidFill>
              </a:rPr>
              <a:t>This analysis has found that the number of funding levels is directly linked to the number of backers. If you want more backers, offer more funding levels.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A106230-8793-8DE4-249D-5898846759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5456902"/>
            <a:ext cx="12192000" cy="1401097"/>
          </a:xfrm>
        </p:spPr>
        <p:txBody>
          <a:bodyPr/>
          <a:lstStyle/>
          <a:p>
            <a:endParaRPr lang="en-GB"/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6C29C963-106C-3CFD-A60C-6128C9697F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0523625"/>
              </p:ext>
            </p:extLst>
          </p:nvPr>
        </p:nvGraphicFramePr>
        <p:xfrm>
          <a:off x="5152102" y="561975"/>
          <a:ext cx="6951407" cy="461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47811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303C-64C0-C827-116B-70E123B1B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0" y="1956619"/>
            <a:ext cx="4100050" cy="3411793"/>
          </a:xfrm>
        </p:spPr>
        <p:txBody>
          <a:bodyPr>
            <a:normAutofit fontScale="90000"/>
          </a:bodyPr>
          <a:lstStyle/>
          <a:p>
            <a:r>
              <a:rPr lang="en-GB" sz="2000" dirty="0"/>
              <a:t>Engagement matters</a:t>
            </a:r>
            <a:r>
              <a:rPr lang="en-GB" sz="2000" b="0" dirty="0"/>
              <a:t>: Successful projects post far more updates (6.7 vs 1.5) and receive far more comments (14.4 vs 1.0).</a:t>
            </a:r>
            <a:br>
              <a:rPr lang="en-GB" sz="2000" b="0" dirty="0"/>
            </a:br>
            <a:br>
              <a:rPr lang="en-GB" sz="2000" b="0" dirty="0"/>
            </a:br>
            <a:r>
              <a:rPr lang="en-GB" sz="2000" dirty="0"/>
              <a:t>Duration</a:t>
            </a:r>
            <a:r>
              <a:rPr lang="en-GB" sz="2000" b="0" dirty="0"/>
              <a:t> is not the key driver: Failed projects tend to run longer (43 days vs 38 days). This suggests that simply keeping a project open longer does not improve its chances.</a:t>
            </a:r>
            <a:br>
              <a:rPr lang="en-GB" sz="2000" b="0" dirty="0"/>
            </a:br>
            <a:endParaRPr lang="en-GB" sz="2000" b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B8C541-F389-B75D-CC99-EE8ECEBC55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5545394"/>
            <a:ext cx="12192000" cy="1312606"/>
          </a:xfrm>
        </p:spPr>
        <p:txBody>
          <a:bodyPr/>
          <a:lstStyle/>
          <a:p>
            <a:endParaRPr lang="en-GB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83AE51F-78A7-8141-E071-2709B702A95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463336193"/>
              </p:ext>
            </p:extLst>
          </p:nvPr>
        </p:nvGraphicFramePr>
        <p:xfrm>
          <a:off x="4434349" y="950979"/>
          <a:ext cx="7393858" cy="3539612"/>
        </p:xfrm>
        <a:graphic>
          <a:graphicData uri="http://schemas.openxmlformats.org/drawingml/2006/table">
            <a:tbl>
              <a:tblPr/>
              <a:tblGrid>
                <a:gridCol w="4119929">
                  <a:extLst>
                    <a:ext uri="{9D8B030D-6E8A-4147-A177-3AD203B41FA5}">
                      <a16:colId xmlns:a16="http://schemas.microsoft.com/office/drawing/2014/main" val="3814255566"/>
                    </a:ext>
                  </a:extLst>
                </a:gridCol>
                <a:gridCol w="1709745">
                  <a:extLst>
                    <a:ext uri="{9D8B030D-6E8A-4147-A177-3AD203B41FA5}">
                      <a16:colId xmlns:a16="http://schemas.microsoft.com/office/drawing/2014/main" val="3958942529"/>
                    </a:ext>
                  </a:extLst>
                </a:gridCol>
                <a:gridCol w="1564184">
                  <a:extLst>
                    <a:ext uri="{9D8B030D-6E8A-4147-A177-3AD203B41FA5}">
                      <a16:colId xmlns:a16="http://schemas.microsoft.com/office/drawing/2014/main" val="1899435049"/>
                    </a:ext>
                  </a:extLst>
                </a:gridCol>
              </a:tblGrid>
              <a:tr h="8849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Failed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Success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539870"/>
                  </a:ext>
                </a:extLst>
              </a:tr>
              <a:tr h="8849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Average number of updates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198803"/>
                  </a:ext>
                </a:extLst>
              </a:tr>
              <a:tr h="8849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Average number of comments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066830"/>
                  </a:ext>
                </a:extLst>
              </a:tr>
              <a:tr h="8849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Average duration of project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7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7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A7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18842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75CDD98-67C8-5916-724A-5E15C17AB7A4}"/>
              </a:ext>
            </a:extLst>
          </p:cNvPr>
          <p:cNvSpPr txBox="1"/>
          <p:nvPr/>
        </p:nvSpPr>
        <p:spPr>
          <a:xfrm>
            <a:off x="1219199" y="412370"/>
            <a:ext cx="50636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+mj-lt"/>
                <a:ea typeface="+mj-ea"/>
                <a:cs typeface="+mj-cs"/>
              </a:rPr>
              <a:t>Active Communication Drives Project Success</a:t>
            </a:r>
          </a:p>
        </p:txBody>
      </p:sp>
    </p:spTree>
    <p:extLst>
      <p:ext uri="{BB962C8B-B14F-4D97-AF65-F5344CB8AC3E}">
        <p14:creationId xmlns:p14="http://schemas.microsoft.com/office/powerpoint/2010/main" val="398965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D8C1-E4B4-D0B3-B7F6-717E5B29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21" y="1060174"/>
            <a:ext cx="4612452" cy="3787128"/>
          </a:xfrm>
        </p:spPr>
        <p:txBody>
          <a:bodyPr>
            <a:noAutofit/>
          </a:bodyPr>
          <a:lstStyle/>
          <a:p>
            <a:r>
              <a:rPr lang="en-GB" sz="2000" b="0" dirty="0">
                <a:latin typeface="Arial" panose="020B0604020202020204" pitchFamily="34" charset="0"/>
                <a:cs typeface="Arial" panose="020B0604020202020204" pitchFamily="34" charset="0"/>
              </a:rPr>
              <a:t>Our analysis shows that campaign success rates are not evenly distributed across categories. </a:t>
            </a:r>
            <a:br>
              <a:rPr lang="en-GB" sz="20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20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b="0" dirty="0">
                <a:latin typeface="Arial" panose="020B0604020202020204" pitchFamily="34" charset="0"/>
                <a:cs typeface="Arial" panose="020B0604020202020204" pitchFamily="34" charset="0"/>
              </a:rPr>
              <a:t>Dance projects are the most successful (74.6%), followed closely by </a:t>
            </a:r>
            <a:r>
              <a:rPr lang="en-GB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Theater</a:t>
            </a:r>
            <a:r>
              <a:rPr lang="en-GB" sz="2000" b="0" dirty="0">
                <a:latin typeface="Arial" panose="020B0604020202020204" pitchFamily="34" charset="0"/>
                <a:cs typeface="Arial" panose="020B0604020202020204" pitchFamily="34" charset="0"/>
              </a:rPr>
              <a:t> (70.7%) and Music (67.5%). </a:t>
            </a:r>
            <a:br>
              <a:rPr lang="en-GB" sz="20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20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b="0" dirty="0">
                <a:latin typeface="Arial" panose="020B0604020202020204" pitchFamily="34" charset="0"/>
                <a:cs typeface="Arial" panose="020B0604020202020204" pitchFamily="34" charset="0"/>
              </a:rPr>
              <a:t>In contrast, Technology (39.3%) and Fashion (32.9%) projects have much lower success rates, suggesting that backers may be more cautious about supporting product-heavy campaigns.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9ECFC-6583-0738-94BB-2D79B729C1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4975123"/>
            <a:ext cx="12192000" cy="1882877"/>
          </a:xfrm>
        </p:spPr>
        <p:txBody>
          <a:bodyPr/>
          <a:lstStyle/>
          <a:p>
            <a:endParaRPr lang="en-GB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F2443C0-F544-B2E7-BA39-C7C633DC9E7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138245145"/>
              </p:ext>
            </p:extLst>
          </p:nvPr>
        </p:nvGraphicFramePr>
        <p:xfrm>
          <a:off x="5062487" y="443987"/>
          <a:ext cx="7129513" cy="4403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11952E0-C241-0934-B8E5-D5904B534706}"/>
              </a:ext>
            </a:extLst>
          </p:cNvPr>
          <p:cNvSpPr txBox="1"/>
          <p:nvPr/>
        </p:nvSpPr>
        <p:spPr>
          <a:xfrm>
            <a:off x="195521" y="242468"/>
            <a:ext cx="4612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Do Project Categories Affect Success?</a:t>
            </a:r>
          </a:p>
        </p:txBody>
      </p:sp>
    </p:spTree>
    <p:extLst>
      <p:ext uri="{BB962C8B-B14F-4D97-AF65-F5344CB8AC3E}">
        <p14:creationId xmlns:p14="http://schemas.microsoft.com/office/powerpoint/2010/main" val="394517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DEC7E-01CB-2B5E-37B8-F7DBDB52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/>
          <a:p>
            <a:r>
              <a:rPr lang="en-GB" sz="3400"/>
              <a:t>Successful </a:t>
            </a:r>
            <a:r>
              <a:rPr lang="en-GB" sz="3400" err="1"/>
              <a:t>Kickstarters</a:t>
            </a:r>
            <a:r>
              <a:rPr lang="en-GB" sz="3400"/>
              <a:t> Check List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F159A99-CDFD-29FD-67EA-A903C6BF39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5C0EE-2B30-6BD7-BA1C-EEC214815A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700" dirty="0"/>
              <a:t>Set a realistic funding goal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700" dirty="0"/>
              <a:t>Offer multiple different funding levels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700" dirty="0"/>
              <a:t>Market as much as possible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700" dirty="0"/>
              <a:t>Update your page as much as possible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700" dirty="0"/>
              <a:t>Engage with backers through comments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sz="1700" dirty="0"/>
              <a:t>Choose categories with higher success rates</a:t>
            </a:r>
          </a:p>
          <a:p>
            <a:pPr>
              <a:lnSpc>
                <a:spcPct val="110000"/>
              </a:lnSpc>
            </a:pP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4223573788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Override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434</Words>
  <Application>Microsoft Macintosh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Neue Haas Grotesk Text Pro</vt:lpstr>
      <vt:lpstr>Wingdings</vt:lpstr>
      <vt:lpstr>Helena</vt:lpstr>
      <vt:lpstr>Kickstarter campaign</vt:lpstr>
      <vt:lpstr>The Challenge: Improving Campaign Success Rates</vt:lpstr>
      <vt:lpstr>Success Rates Rise with More Funding Levels</vt:lpstr>
      <vt:lpstr>Engagement matters: Successful projects post far more updates (6.7 vs 1.5) and receive far more comments (14.4 vs 1.0).  Duration is not the key driver: Failed projects tend to run longer (43 days vs 38 days). This suggests that simply keeping a project open longer does not improve its chances. </vt:lpstr>
      <vt:lpstr>Our analysis shows that campaign success rates are not evenly distributed across categories.   Dance projects are the most successful (74.6%), followed closely by Theater (70.7%) and Music (67.5%).   In contrast, Technology (39.3%) and Fashion (32.9%) projects have much lower success rates, suggesting that backers may be more cautious about supporting product-heavy campaigns.</vt:lpstr>
      <vt:lpstr>Successful Kickstarters Check List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Andreea B</dc:creator>
  <cp:lastModifiedBy>Jamie Tighe</cp:lastModifiedBy>
  <cp:revision>2</cp:revision>
  <dcterms:created xsi:type="dcterms:W3CDTF">2025-09-09T11:02:19Z</dcterms:created>
  <dcterms:modified xsi:type="dcterms:W3CDTF">2026-01-16T14:51:28Z</dcterms:modified>
</cp:coreProperties>
</file>